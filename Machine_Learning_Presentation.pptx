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>
                <a:solidFill>
                  <a:srgbClr val="0056B3"/>
                </a:solidFill>
                <a:latin typeface="Calibri Light"/>
              </a:defRPr>
            </a:pPr>
            <a:r>
              <a:t>Machine Learning: Empowering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>
              <a:defRPr sz="3000">
                <a:solidFill>
                  <a:srgbClr val="969696"/>
                </a:solidFill>
                <a:latin typeface="Calibri"/>
              </a:defRPr>
            </a:pPr>
            <a:r>
              <a:t>Unlocking the Power of Data and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969696"/>
                </a:solidFill>
                <a:latin typeface="Calibri"/>
              </a:defRPr>
            </a:pPr>
            <a:r>
              <a:t>Presented by: Senior Python Developer</a:t>
            </a:r>
          </a:p>
          <a:p>
            <a:pPr>
              <a:defRPr sz="2000">
                <a:solidFill>
                  <a:srgbClr val="969696"/>
                </a:solidFill>
                <a:latin typeface="Calibri"/>
              </a:defRPr>
            </a:pPr>
            <a:r>
              <a:t>Date: December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6B3"/>
                </a:solidFill>
                <a:latin typeface="Calibri Light"/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Machine Learning (ML) is a subset of Artificial Intelligence (AI) that enables systems to learn from data.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Focuses on developing algorithms that can generalize from examples and make predictions or decisions.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Transforms raw data into actionable insights and predictive models with minimal human intervention.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Drives innovation across various industries by automating tasks and revealing hidden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6B3"/>
                </a:solidFill>
                <a:latin typeface="Calibri Light"/>
              </a:defRPr>
            </a:pPr>
            <a:r>
              <a:t>Why Machine Learning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Solving Complex Problems: Addresses challenges too intricate for traditional programming rules.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Handling Big Data: Efficiently processes and extracts valuable information from massive datasets.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Automation &amp; Efficiency: Automates repetitive tasks, optimizes workflows, and reduces manual effort.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Predictive Capabilities: Forecasts future trends, behaviors, and outcomes with high accuracy.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Continuous Improvement: Models can adapt and enhance performance over time as more data becomes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6B3"/>
                </a:solidFill>
                <a:latin typeface="Calibri Light"/>
              </a:defRPr>
            </a:pPr>
            <a:r>
              <a:t>Core Paradigms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Supervised Learning: Learns from labeled data to make predictions.</a:t>
            </a:r>
          </a:p>
          <a:p>
            <a:pPr lvl="1">
              <a:defRPr sz="1800" b="0">
                <a:solidFill>
                  <a:srgbClr val="333333"/>
                </a:solidFill>
                <a:latin typeface="Calibri"/>
              </a:defRPr>
            </a:pPr>
            <a:r>
              <a:t>Classification (e.g., spam detection, image recognition)</a:t>
            </a:r>
          </a:p>
          <a:p>
            <a:pPr lvl="1">
              <a:defRPr sz="1800" b="0">
                <a:solidFill>
                  <a:srgbClr val="333333"/>
                </a:solidFill>
                <a:latin typeface="Calibri"/>
              </a:defRPr>
            </a:pPr>
            <a:r>
              <a:t>Regression (e.g., house price prediction, stock market forecasting)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Unsupervised Learning: Discovers hidden patterns and structures in unlabeled data.</a:t>
            </a:r>
          </a:p>
          <a:p>
            <a:pPr lvl="1">
              <a:defRPr sz="1800" b="0">
                <a:solidFill>
                  <a:srgbClr val="333333"/>
                </a:solidFill>
                <a:latin typeface="Calibri"/>
              </a:defRPr>
            </a:pPr>
            <a:r>
              <a:t>Clustering (e.g., customer segmentation, anomaly detection)</a:t>
            </a:r>
          </a:p>
          <a:p>
            <a:pPr lvl="1">
              <a:defRPr sz="1800" b="0">
                <a:solidFill>
                  <a:srgbClr val="333333"/>
                </a:solidFill>
                <a:latin typeface="Calibri"/>
              </a:defRPr>
            </a:pPr>
            <a:r>
              <a:t>Dimensionality Reduction (e.g., data visualization, noise reduction)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Reinforcement Learning: Learns through trial and error by interacting with an environment to maximize rewards.</a:t>
            </a:r>
          </a:p>
          <a:p>
            <a:pPr lvl="1">
              <a:defRPr sz="1800" b="0">
                <a:solidFill>
                  <a:srgbClr val="333333"/>
                </a:solidFill>
                <a:latin typeface="Calibri"/>
              </a:defRPr>
            </a:pPr>
            <a:r>
              <a:t>Applications in robotics, game AI, autonomous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6B3"/>
                </a:solidFill>
                <a:latin typeface="Calibri Light"/>
              </a:defRPr>
            </a:pPr>
            <a:r>
              <a:t>The Machine Learning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1. Data Collection: Gathering relevant and high-quality raw data from various sources.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2. Data Preprocessing: Cleaning, transforming, and preparing data for model training (e.g., handling missing values, feature scaling).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3. Model Selection: Choosing the appropriate algorithm or model architecture based on the problem type and data characteristics.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4. Model Training: Feeding the preprocessed data to the chosen algorithm to learn patterns and relationships.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5. Model Evaluation: Assessing the performance and accuracy of the trained model using unseen test data.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6. Model Deployment: Integrating the validated model into production systems for real-world use.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7. Monitoring &amp; Retraining: Continuously observing model performance and updating/retraining it as data distributions shift.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6B3"/>
                </a:solidFill>
                <a:latin typeface="Calibri Light"/>
              </a:defRPr>
            </a:pPr>
            <a:r>
              <a:t>Essential ML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Programming Languages: Python (dominant), R, Java, Scala.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Core Libraries (Python): NumPy, Pandas (data manipulation), Matplotlib, Seaborn (data visualization).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ML Frameworks: Scikit-learn (traditional ML), XGBoost, LightGBM (gradient boosting).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Deep Learning Frameworks: TensorFlow, PyTorch, Keras (for neural networks).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Cloud Platforms: AWS (SageMaker), Google Cloud (AI Platform), Azure ML (managed ML services).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Big Data Tools: Apache Spark, Hadoop (for large-scale data processing).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6B3"/>
                </a:solidFill>
                <a:latin typeface="Calibri Light"/>
              </a:defRPr>
            </a:pPr>
            <a:r>
              <a:t>Real-World 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Healthcare: Disease diagnosis, drug discovery, personalized treatment plans.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Finance: Fraud detection, algorithmic trading, credit risk assessment.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E-commerce: Product recommendation systems, personalized shopping experiences, demand forecasting.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Autonomous Vehicles: Object detection, path planning, predictive maintenance.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Natural Language Processing (NLP): Sentiment analysis, chatbots, machine translation.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Computer Vision: Facial recognition, image classification, quality control in manufacturing.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6B3"/>
                </a:solidFill>
                <a:latin typeface="Calibri Light"/>
              </a:defRPr>
            </a:pPr>
            <a:r>
              <a:t>The Transformative Impact of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Enhanced Decision Making: Provides data-driven insights for better strategic and operational choices.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Increased Efficiency: Automates complex and repetitive tasks, freeing up human resources.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Personalization: Delivers highly tailored experiences for customers and users, improving satisfaction.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Innovation &amp; Discovery: Accelerates research, uncovers new patterns, and fosters groundbreaking advancements.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Cost Reduction: Optimizes resource allocation, supply chains, and operational processes.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Competitive Advantage: Drives growth, market leadership, and the ability to adapt quickly to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6B3"/>
                </a:solidFill>
                <a:latin typeface="Calibri Light"/>
              </a:defRPr>
            </a:pPr>
            <a:r>
              <a:t>Challenges and Ethical Considerations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Data Quality &amp; Bias: Performance is heavily dependent on clean, representative data; biased data leads to biased models.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Model Interpretability (Explainability): Understanding why a 'black box' model makes certain predictions can be difficult, especially in critical applications.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Overfitting &amp; Underfitting: Models performing poorly on unseen data due to learning noise or being too simplistic.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Scalability: Managing and processing ever-growing datasets and deploying models at scale requires significant infrastructure.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Ethical &amp; Privacy Concerns: Misuse of data, algorithmic discrimination, data security, and compliance with regulations.</a:t>
            </a:r>
          </a:p>
          <a:p>
            <a:pPr>
              <a:defRPr sz="2000" b="0">
                <a:solidFill>
                  <a:srgbClr val="333333"/>
                </a:solidFill>
                <a:latin typeface="Calibri"/>
              </a:defRPr>
            </a:pPr>
            <a:r>
              <a:t>Resource Intensive: Requires significant computational power, specialized expertise, and ongoing maintenance.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6B3"/>
                </a:solidFill>
                <a:latin typeface="Calibri Light"/>
              </a:defRPr>
            </a:pPr>
            <a:r>
              <a:t>Conclusion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ML is a Game-Changer: Revolutionizing industries and daily life, becoming an indispensable tool.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Continuous Evolution: Expect rapid advancements in algorithms, hardware, and data availability.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Ethical AI is Paramount: Responsible development, transparent models, and fair deployment are crucial for societal trust.</a:t>
            </a:r>
          </a:p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Future Trends: Emergence of AutoML, Explainable AI (XAI), Edge AI, and Quantum Machine Learning.</a:t>
            </a:r>
          </a:p>
          <a:p>
            <a:pPr>
              <a:defRPr sz="2000">
                <a:solidFill>
                  <a:srgbClr val="0056B3"/>
                </a:solidFill>
                <a:latin typeface="Calibri"/>
              </a:defRPr>
            </a:pPr>
            <a:r>
              <a:t>Embrace the Future: Harness ML for innovation, efficiency, and solving humanity's grand challenges.</a:t>
            </a:r>
          </a:p>
          <a:p>
            <a:pPr>
              <a:defRPr sz="2000">
                <a:solidFill>
                  <a:srgbClr val="333333"/>
                </a:solidFill>
                <a:latin typeface="Calibri Light"/>
              </a:defRPr>
            </a:pPr>
            <a:r>
              <a:t>Thank you for your attention!</a:t>
            </a:r>
          </a:p>
          <a:p>
            <a:pPr algn="just">
              <a:defRPr sz="3600">
                <a:solidFill>
                  <a:srgbClr val="0056B3"/>
                </a:solidFill>
                <a:latin typeface="Calibri Light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